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4fc83cdc04d22" /><Relationship Type="http://schemas.openxmlformats.org/officeDocument/2006/relationships/extended-properties" Target="/docProps/app.xml" Id="R9ec1c69763b6435c" /><Relationship Type="http://schemas.openxmlformats.org/officeDocument/2006/relationships/officeDocument" Target="/ppt/presentation.xml" Id="R6d2c08d7634e4f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29967caf94c28"/>
  </p:sldMasterIdLst>
  <p:notesMasterIdLst>
    <p:notesMasterId xmlns:r="http://schemas.openxmlformats.org/officeDocument/2006/relationships" r:id="R402f3dbb3c794f0b"/>
  </p:notesMasterIdLst>
  <p:sldIdLst>
    <p:sldId xmlns:r="http://schemas.openxmlformats.org/officeDocument/2006/relationships" id="256" r:id="Rdefc3e08ffa54093"/>
    <p:sldId xmlns:r="http://schemas.openxmlformats.org/officeDocument/2006/relationships" id="257" r:id="Ref18aa959d9c4d22"/>
    <p:sldId xmlns:r="http://schemas.openxmlformats.org/officeDocument/2006/relationships" id="258" r:id="R7f6e7c9549614121"/>
    <p:sldId xmlns:r="http://schemas.openxmlformats.org/officeDocument/2006/relationships" id="259" r:id="Rf9116b4a4829441b"/>
    <p:sldId xmlns:r="http://schemas.openxmlformats.org/officeDocument/2006/relationships" id="260" r:id="R3a7e3c8aed014eba"/>
    <p:sldId xmlns:r="http://schemas.openxmlformats.org/officeDocument/2006/relationships" id="261" r:id="R716233b66647497e"/>
    <p:sldId xmlns:r="http://schemas.openxmlformats.org/officeDocument/2006/relationships" id="262" r:id="R40cf51fe06f54d32"/>
    <p:sldId xmlns:r="http://schemas.openxmlformats.org/officeDocument/2006/relationships" id="263" r:id="R8524a58071804593"/>
    <p:sldId xmlns:r="http://schemas.openxmlformats.org/officeDocument/2006/relationships" id="264" r:id="R7d27915023764f53"/>
    <p:sldId xmlns:r="http://schemas.openxmlformats.org/officeDocument/2006/relationships" id="265" r:id="R8430f45559a944d9"/>
    <p:sldId xmlns:r="http://schemas.openxmlformats.org/officeDocument/2006/relationships" id="266" r:id="R2ea1be7a69904575"/>
    <p:sldId xmlns:r="http://schemas.openxmlformats.org/officeDocument/2006/relationships" id="267" r:id="R924d2ba00598417b"/>
    <p:sldId xmlns:r="http://schemas.openxmlformats.org/officeDocument/2006/relationships" id="268" r:id="R888938b2b5974919"/>
    <p:sldId xmlns:r="http://schemas.openxmlformats.org/officeDocument/2006/relationships" id="269" r:id="R69e7d29512b74ed4"/>
    <p:sldId xmlns:r="http://schemas.openxmlformats.org/officeDocument/2006/relationships" id="270" r:id="Reefdd4af476349be"/>
    <p:sldId xmlns:r="http://schemas.openxmlformats.org/officeDocument/2006/relationships" id="271" r:id="R817a796e5d854976"/>
    <p:sldId xmlns:r="http://schemas.openxmlformats.org/officeDocument/2006/relationships" id="272" r:id="Re4347c7d074c4c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b90ec9e80474b" /><Relationship Type="http://schemas.openxmlformats.org/officeDocument/2006/relationships/slideMaster" Target="/ppt/slideMasters/slideMaster1.xml" Id="Rbb329967caf94c28" /><Relationship Type="http://schemas.openxmlformats.org/officeDocument/2006/relationships/notesMaster" Target="/ppt/notesMasters/notesMaster1.xml" Id="R402f3dbb3c794f0b" /><Relationship Type="http://schemas.openxmlformats.org/officeDocument/2006/relationships/presProps" Target="/ppt/presProps.xml" Id="R969fae36f43e452c" /><Relationship Type="http://schemas.openxmlformats.org/officeDocument/2006/relationships/tableStyles" Target="/ppt/tableStyles.xml" Id="Reac0d7a8e0274f09" /><Relationship Type="http://schemas.openxmlformats.org/officeDocument/2006/relationships/slide" Target="/ppt/slides/slide1.xml" Id="Rdefc3e08ffa54093" /><Relationship Type="http://schemas.openxmlformats.org/officeDocument/2006/relationships/slide" Target="/ppt/slides/slide2.xml" Id="Ref18aa959d9c4d22" /><Relationship Type="http://schemas.openxmlformats.org/officeDocument/2006/relationships/slide" Target="/ppt/slides/slide3.xml" Id="R7f6e7c9549614121" /><Relationship Type="http://schemas.openxmlformats.org/officeDocument/2006/relationships/slide" Target="/ppt/slides/slide4.xml" Id="Rf9116b4a4829441b" /><Relationship Type="http://schemas.openxmlformats.org/officeDocument/2006/relationships/slide" Target="/ppt/slides/slide5.xml" Id="R3a7e3c8aed014eba" /><Relationship Type="http://schemas.openxmlformats.org/officeDocument/2006/relationships/slide" Target="/ppt/slides/slide6.xml" Id="R716233b66647497e" /><Relationship Type="http://schemas.openxmlformats.org/officeDocument/2006/relationships/slide" Target="/ppt/slides/slide7.xml" Id="R40cf51fe06f54d32" /><Relationship Type="http://schemas.openxmlformats.org/officeDocument/2006/relationships/slide" Target="/ppt/slides/slide8.xml" Id="R8524a58071804593" /><Relationship Type="http://schemas.openxmlformats.org/officeDocument/2006/relationships/slide" Target="/ppt/slides/slide9.xml" Id="R7d27915023764f53" /><Relationship Type="http://schemas.openxmlformats.org/officeDocument/2006/relationships/slide" Target="/ppt/slides/slide10.xml" Id="R8430f45559a944d9" /><Relationship Type="http://schemas.openxmlformats.org/officeDocument/2006/relationships/slide" Target="/ppt/slides/slide11.xml" Id="R2ea1be7a69904575" /><Relationship Type="http://schemas.openxmlformats.org/officeDocument/2006/relationships/slide" Target="/ppt/slides/slide12.xml" Id="R924d2ba00598417b" /><Relationship Type="http://schemas.openxmlformats.org/officeDocument/2006/relationships/slide" Target="/ppt/slides/slide13.xml" Id="R888938b2b5974919" /><Relationship Type="http://schemas.openxmlformats.org/officeDocument/2006/relationships/slide" Target="/ppt/slides/slide14.xml" Id="R69e7d29512b74ed4" /><Relationship Type="http://schemas.openxmlformats.org/officeDocument/2006/relationships/slide" Target="/ppt/slides/slide15.xml" Id="Reefdd4af476349be" /><Relationship Type="http://schemas.openxmlformats.org/officeDocument/2006/relationships/slide" Target="/ppt/slides/slide16.xml" Id="R817a796e5d854976" /><Relationship Type="http://schemas.openxmlformats.org/officeDocument/2006/relationships/slide" Target="/ppt/slides/slide17.xml" Id="Re4347c7d074c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3c9f71f4b43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21236ed8840ef" /><Relationship Type="http://schemas.openxmlformats.org/officeDocument/2006/relationships/notesMaster" Target="/ppt/notesMasters/notesMaster1.xml" Id="R1df30b457a6747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696f6a95d490c" /><Relationship Type="http://schemas.openxmlformats.org/officeDocument/2006/relationships/notesMaster" Target="/ppt/notesMasters/notesMaster1.xml" Id="R2c5619ea57b0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75513a9d548f2" /><Relationship Type="http://schemas.openxmlformats.org/officeDocument/2006/relationships/notesMaster" Target="/ppt/notesMasters/notesMaster1.xml" Id="Rad231bfaa51243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db663c83c486b" /><Relationship Type="http://schemas.openxmlformats.org/officeDocument/2006/relationships/notesMaster" Target="/ppt/notesMasters/notesMaster1.xml" Id="Rd206a4f3c59645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67103d751489c" /><Relationship Type="http://schemas.openxmlformats.org/officeDocument/2006/relationships/notesMaster" Target="/ppt/notesMasters/notesMaster1.xml" Id="R1d127c1d9ead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7b338e1fa4831" /><Relationship Type="http://schemas.openxmlformats.org/officeDocument/2006/relationships/notesMaster" Target="/ppt/notesMasters/notesMaster1.xml" Id="R73813ce1b949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62dd80bbb449a" /><Relationship Type="http://schemas.openxmlformats.org/officeDocument/2006/relationships/notesMaster" Target="/ppt/notesMasters/notesMaster1.xml" Id="R0cb654c1e241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eb84c2c8eb4459" /><Relationship Type="http://schemas.openxmlformats.org/officeDocument/2006/relationships/notesMaster" Target="/ppt/notesMasters/notesMaster1.xml" Id="Rc5b14aea2c824f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2fac36f42a4f5b" /><Relationship Type="http://schemas.openxmlformats.org/officeDocument/2006/relationships/notesMaster" Target="/ppt/notesMasters/notesMaster1.xml" Id="R39a6f784d3174d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71e00b3b9d4e56" /><Relationship Type="http://schemas.openxmlformats.org/officeDocument/2006/relationships/notesMaster" Target="/ppt/notesMasters/notesMaster1.xml" Id="R8cc0acda642545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ada41280584477" /><Relationship Type="http://schemas.openxmlformats.org/officeDocument/2006/relationships/notesMaster" Target="/ppt/notesMasters/notesMaster1.xml" Id="R33223a46d16148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e635c6c33e4425" /><Relationship Type="http://schemas.openxmlformats.org/officeDocument/2006/relationships/notesMaster" Target="/ppt/notesMasters/notesMaster1.xml" Id="Rb08374a359204d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d2763e2eab4896" /><Relationship Type="http://schemas.openxmlformats.org/officeDocument/2006/relationships/notesMaster" Target="/ppt/notesMasters/notesMaster1.xml" Id="Ra6f440e090b042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5d1353ed35413a" /><Relationship Type="http://schemas.openxmlformats.org/officeDocument/2006/relationships/notesMaster" Target="/ppt/notesMasters/notesMaster1.xml" Id="Rdd7e0d4579754c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938bcb30e14a74" /><Relationship Type="http://schemas.openxmlformats.org/officeDocument/2006/relationships/notesMaster" Target="/ppt/notesMasters/notesMaster1.xml" Id="Ra20831ea226a4e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0214a72d834d23" /><Relationship Type="http://schemas.openxmlformats.org/officeDocument/2006/relationships/notesMaster" Target="/ppt/notesMasters/notesMaster1.xml" Id="R7b91474dc95049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930fc09aea448d" /><Relationship Type="http://schemas.openxmlformats.org/officeDocument/2006/relationships/notesMaster" Target="/ppt/notesMasters/notesMaster1.xml" Id="R9476464a95d2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各位评委好，我是唐林博豪。Agent Canary 面向能够调用工具的 AI Agent，目标是在可信入口检查权限，并让第三方核对实际目标效果。今天展示限定受控 SDK 的工程证据，不作全局防护承诺。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模型接触低信任内容后可能改变任务。我们的新留出样本中，无保护 Agent 在两种文本上返回了虚拟秘密。这是真实本地模型的工具选择。与此同时，模型没有自主接触诱饵，所以诱饵检测不能承担全部防护。首次调用需要可信权限检查。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模型只持有 dispatch。宿主持有工具描述、文件句柄和审批能力。网关在执行前检查参数与最小权限，必要时要求人工审批。文件使用预持有句柄，命令采用固定程序和参数，网络限制批准目标。该入口控制登记能力，不是系统调用级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我们的贡献是把资源约束执行、会话隔离和效果证据连接起来。E0到E4帮助解释主张强度。蜜罐在临时空间使用无效资产。自适应选择机制已经存在，但没有公平收益消融；我们不申报触发率提升。AI的结果不授予任何新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src/runtime/honeypot.ts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</a:t>
            </a:r>
          </a:p>
          <a:p xmlns:a="http://schemas.openxmlformats.org/drawingml/2006/main">
            <a:r>
              <a:t>这里先回放相同场景H08或H10的原始A/F轨迹：A实际返回虚拟秘密，F在读取前拒绝。然后运行离线操作员DEMO，检查文件和回调计数。DEMO是真实临时I/O，但不是模型自主攻击。我们展示证据与观察，不把页面上的DENY当成无副作用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competition-submission/3.0-final/有限凭据拒绝证据.json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冻结策略后，12个新间接攻击文本和4种正常任务各重复两次，两组共64次运行。A攻击效果4/24，F为0/24。F只有6/24任务存在拒绝，其余没有攻击效果不能计为主动拦截。重复相关、作者知晓设计，不是64个独立样本。AI审查和Canary触发均为0，不能归因其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最大边界是未接入的工具不受保护。原生宿主只有配置或部分hook证据，不能替代SDK验收。已开始并不合作的回调可能产生迟到副作用，文件句柄也不提供事务回滚。0/24和8/8只描述这一批任务。独立操作者E4还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评委可以下载免费包运行自检，在完整冻结Git checkout复查原始记录和Schema。MIT保持不变。负面结果、失败启动和不合作回调反例都保留。证据哈希链只相对可信锚检查一致性，管理员仍可重写整链。我们提供外部复现套件，但不会把自己的新目录自测说成E4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执行前控制已有真实相关方案。例如Invariant可监控工具流并拦截调用，NeMo也有执行护栏。Promptfoo和PyRIT适合组织风险评测。本项目的区别是围绕有限资源绑定、诱饵隔离及副作用见证形成小型TypeScript工程闭环。我们尚无同条件竞品测试，因此不宣称防护优于这些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https://github.com/invariantlabs-ai/invariant</a:t>
            </a:r>
          </a:p>
          <a:p xmlns:a="http://schemas.openxmlformats.org/drawingml/2006/main">
            <a:r>
              <a:t>https://github.com/NVIDIA/NeMo-Guardrails</a:t>
            </a:r>
          </a:p>
          <a:p xmlns:a="http://schemas.openxmlformats.org/drawingml/2006/main">
            <a:r>
              <a:t>https://github.com/promptfoo/promptfoo</a:t>
            </a:r>
          </a:p>
          <a:p xmlns:a="http://schemas.openxmlformats.org/drawingml/2006/main">
            <a:r>
              <a:t>https://github.com/microsoft/PyRIT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我们已经公开SDK贡献者套件和一份实际维护复盘。长期推进依赖四个验收门槛：先由维护者确认开发预算；每月实际完成复盘后记录；邀请真实外部操作者复现；3.1先建立版本化插件协议，再在一个官方宿主的受控入口验证。当前E4、连续维护和正式插件协议仍缺证据。资源不够就延期，不改变竞赛冻结代码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competition-submission/roadshow-3.0/development-plan-update/DEVELOPMENT_EVIDENCE_GATES.md</a:t>
            </a:r>
          </a:p>
          <a:p xmlns:a="http://schemas.openxmlformats.org/drawingml/2006/main">
            <a:r>
              <a:t>docs/competition/score-review-2026-10-12/MAINTENANCE_CAPACITY_AND_GATES.md</a:t>
            </a:r>
          </a:p>
          <a:p xmlns:a="http://schemas.openxmlformats.org/drawingml/2006/main">
            <a:r>
              <a:t>docs/competition/score-review-2026-10-12/MAINTENANCE_REVIEW_LOG.md</a:t>
            </a:r>
          </a:p>
          <a:p xmlns:a="http://schemas.openxmlformats.org/drawingml/2006/main">
            <a:r>
              <a:t>docs/competition/score-review-2026-10-12/EXTENSION_CONTRACT_SNAPSHOT.md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新数据为16独特任务、2次相关重复、2组。分母24是攻击试验，不是24独立文本；64含16正常试验。攻击成功按秘密返回、victim变化、sink收到请求或特权marker定义。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security-lab/evidence/2026-10-11T13-34-53-835Z/results.json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本项目研究分级，不是官方标准。E3要求目标见证，不是VERIFIED字段。哈希链不证明事件真实性或防管理员重写。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不能把宿主列表写成全局支持名单。模型、协议握手、SDK保护、原生宿主E2E是不同层次。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数据来源holdout-metrics-detail，资源只覆盖Node样本尾，不含Ollama/GPU，不能称模型内存或全程峰值。AI审查本批0次，延迟与独立收益NOT MEASURED。本地无付费API，能耗未测。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security-lab/competition-freeze/holdout-metrics-detail.json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既有视频约213秒，中文字幕无音轨，操作者真实浏览器操作与历史模型回放分开。本轮不重录假模型视频。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competition-submission/3.0-final/video-final-verification.json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此页区分已有材料和未来执行。协议是研究与工程下一步，没有stable plugin loader或全局原生宿主保护。开发容量不是由AI替作者承诺。外部复现须真实另一操作者，不用CI替代。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competition-submission/roadshow-3.0/development-plan-update/DEVELOPMENT_EVIDENCE_GATES.md</a:t>
            </a:r>
          </a:p>
          <a:p xmlns:a="http://schemas.openxmlformats.org/drawingml/2006/main">
            <a:r>
              <a:t>docs/competition/score-review-2026-10-12/MAINTENANCE_CAPACITY_AND_GATES.md</a:t>
            </a:r>
          </a:p>
          <a:p xmlns:a="http://schemas.openxmlformats.org/drawingml/2006/main">
            <a:r>
              <a:t>docs/competition/score-review-2026-10-12/MAINTENANCE_REVIEW_LOG.md</a:t>
            </a:r>
          </a:p>
          <a:p xmlns:a="http://schemas.openxmlformats.org/drawingml/2006/main">
            <a:r>
              <a:t>docs/competition/score-review-2026-10-12/EXTENSION_CONTRACT_SNAPSHOT.md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备答，不计入主讲时间。</a:t>
            </a:r>
          </a:p>
          <a:p xmlns:a="http://schemas.openxmlformats.org/drawingml/2006/main">
            <a:r>
              <a:t>原路线18到31人周，以40小时人周折算开发720到1240小时，是规划假设；维护另算。实际开发资源尚未确认，所以不承诺12个月完成全部功能。3.5依赖真实反馈，4.0仅保留研究方向，不影响竞赛。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competition-submission/roadshow-3.0/development-plan-update/DEVELOPMENT_EVIDENCE_GATES.md</a:t>
            </a:r>
          </a:p>
          <a:p xmlns:a="http://schemas.openxmlformats.org/drawingml/2006/main">
            <a:r>
              <a:t>docs/competition/score-review-2026-10-12/MAINTENANCE_CAPACITY_AND_GATES.md</a:t>
            </a:r>
          </a:p>
          <a:p xmlns:a="http://schemas.openxmlformats.org/drawingml/2006/main">
            <a:r>
              <a:t>docs/competition/score-review-2026-10-12/MAINTENANCE_REVIEW_LOG.md</a:t>
            </a:r>
          </a:p>
          <a:p xmlns:a="http://schemas.openxmlformats.org/drawingml/2006/main">
            <a:r>
              <a:t>docs/competition/score-review-2026-10-12/EXTENSION_CONTRACT_SNAPSHOT.md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eaeadf5f648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a6aa233324f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b471f6c1a43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f4c4b1e0741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284ff937d4d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6e01c9fc5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140DBC-40B3-42FD-B709-46A266A6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7AF9A8-5BCC-4E13-A14E-F638A08110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307A80-07B6-4551-8231-172E8AC80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990C72-E192-4E61-8B64-91E3B50CB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BDF4E9-2E3D-493D-9D57-B389787F9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47B54C-47D5-4C67-BFBA-B2207F3B7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E3132E-83DB-45F6-85A4-E5B2A28B9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F11E1F-BD2D-48F2-908D-02A7517448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763D2-F6E5-46E1-8F9D-07F2A95C6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C5959D-6E16-4F32-A0F0-6F848270EB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c57ea6baa4669" /><Relationship Type="http://schemas.openxmlformats.org/officeDocument/2006/relationships/slideLayout" Target="/ppt/slideLayouts/slideLayout1.xml" Id="Rb4e02701fa474898" /><Relationship Type="http://schemas.openxmlformats.org/officeDocument/2006/relationships/slideLayout" Target="/ppt/slideLayouts/slideLayout2.xml" Id="R9adc671144f2448b" /><Relationship Type="http://schemas.openxmlformats.org/officeDocument/2006/relationships/slideLayout" Target="/ppt/slideLayouts/slideLayout3.xml" Id="Raf60e50e93f64279" /><Relationship Type="http://schemas.openxmlformats.org/officeDocument/2006/relationships/slideLayout" Target="/ppt/slideLayouts/slideLayout4.xml" Id="Rc48734908e244d84" /><Relationship Type="http://schemas.openxmlformats.org/officeDocument/2006/relationships/slideLayout" Target="/ppt/slideLayouts/slideLayout5.xml" Id="Rac1b616096894e02" /><Relationship Type="http://schemas.openxmlformats.org/officeDocument/2006/relationships/slideLayout" Target="/ppt/slideLayouts/slideLayout6.xml" Id="R0e1a4fc7c8f24c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02701fa474898"/>
    <p:sldLayoutId xmlns:r="http://schemas.openxmlformats.org/officeDocument/2006/relationships" id="2147483650" r:id="R9adc671144f2448b"/>
    <p:sldLayoutId xmlns:r="http://schemas.openxmlformats.org/officeDocument/2006/relationships" id="2147483651" r:id="Raf60e50e93f64279"/>
    <p:sldLayoutId xmlns:r="http://schemas.openxmlformats.org/officeDocument/2006/relationships" id="2147483652" r:id="Rc48734908e244d84"/>
    <p:sldLayoutId xmlns:r="http://schemas.openxmlformats.org/officeDocument/2006/relationships" id="2147483653" r:id="Rac1b616096894e02"/>
    <p:sldLayoutId xmlns:r="http://schemas.openxmlformats.org/officeDocument/2006/relationships" id="2147483654" r:id="R0e1a4fc7c8f24c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6e587b92342b8" /><Relationship Type="http://schemas.openxmlformats.org/officeDocument/2006/relationships/notesSlide" Target="/ppt/notesSlides/notesSlide1.xml" Id="Rfdf94e7c5231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e6e414fa6417a" /><Relationship Type="http://schemas.openxmlformats.org/officeDocument/2006/relationships/notesSlide" Target="/ppt/notesSlides/notesSlide2.xml" Id="Rfaeb41c2f66c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cc19643d540a7" /><Relationship Type="http://schemas.openxmlformats.org/officeDocument/2006/relationships/notesSlide" Target="/ppt/notesSlides/notesSlide3.xml" Id="R09c7145a7541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f9763b4f04e26" /><Relationship Type="http://schemas.openxmlformats.org/officeDocument/2006/relationships/notesSlide" Target="/ppt/notesSlides/notesSlide4.xml" Id="R26da146c75e4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d0be3aef346e8" /><Relationship Type="http://schemas.openxmlformats.org/officeDocument/2006/relationships/notesSlide" Target="/ppt/notesSlides/notesSlide5.xml" Id="R0a9a776a570c4b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7ad1d803c4e49" /><Relationship Type="http://schemas.openxmlformats.org/officeDocument/2006/relationships/chart" Target="/ppt/slides/charts/chart1.xml" Id="Rccfa987402954987" /><Relationship Type="http://schemas.openxmlformats.org/officeDocument/2006/relationships/notesSlide" Target="/ppt/notesSlides/notesSlide6.xml" Id="Rd15e0240929342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df88caeb547b8" /><Relationship Type="http://schemas.openxmlformats.org/officeDocument/2006/relationships/notesSlide" Target="/ppt/notesSlides/notesSlide7.xml" Id="R5e9e66321eb0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e93a0d8184e75" /><Relationship Type="http://schemas.openxmlformats.org/officeDocument/2006/relationships/notesSlide" Target="/ppt/notesSlides/notesSlide8.xml" Id="R8207a6a0623a47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f5021bfa44337" /><Relationship Type="http://schemas.openxmlformats.org/officeDocument/2006/relationships/notesSlide" Target="/ppt/notesSlides/notesSlide9.xml" Id="R9ebd10b3b24d4d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f9e7df9d64e09" /><Relationship Type="http://schemas.openxmlformats.org/officeDocument/2006/relationships/notesSlide" Target="/ppt/notesSlides/notesSlide10.xml" Id="R661c75a083c84d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ea55429bc41b1" /><Relationship Type="http://schemas.openxmlformats.org/officeDocument/2006/relationships/notesSlide" Target="/ppt/notesSlides/notesSlide11.xml" Id="R3990b6a409a341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67f2b8edf4a8c" /><Relationship Type="http://schemas.openxmlformats.org/officeDocument/2006/relationships/notesSlide" Target="/ppt/notesSlides/notesSlide12.xml" Id="R751c5dacbc7840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207dd3d8f4a9c" /><Relationship Type="http://schemas.openxmlformats.org/officeDocument/2006/relationships/notesSlide" Target="/ppt/notesSlides/notesSlide13.xml" Id="R20b441f899c442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4cc0fa2ce4857" /><Relationship Type="http://schemas.openxmlformats.org/officeDocument/2006/relationships/notesSlide" Target="/ppt/notesSlides/notesSlide14.xml" Id="Rc81086f43ce14b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eab48f4b5459b" /><Relationship Type="http://schemas.openxmlformats.org/officeDocument/2006/relationships/notesSlide" Target="/ppt/notesSlides/notesSlide15.xml" Id="R1050b7409aff4a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1188d929a47d9" /><Relationship Type="http://schemas.openxmlformats.org/officeDocument/2006/relationships/notesSlide" Target="/ppt/notesSlides/notesSlide16.xml" Id="Rd9ed0e9d84cd46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f1840690d445e" /><Relationship Type="http://schemas.openxmlformats.org/officeDocument/2006/relationships/notesSlide" Target="/ppt/notesSlides/notesSlide17.xml" Id="R484c60cb27c347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9A904-2106-43F9-B555-F61130A0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A74A-308E-4E96-AD36-5C7D555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9F788-30F5-4509-8CC9-0FA87A03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FD556-4546-4762-9A30-8CD89E2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E1CE8-35C9-4F4A-B3FF-55AB179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开源 AI 工具赛道 · 自主选题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329D1-1A69-4CAD-992C-CCA1C2D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运行时冻结 99660b36 · MIT Community 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A6117-1EF7-484F-9493-4FE525F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1/17</a:t>
            </a:r>
          </a:p>
        </p:txBody>
      </p:sp>
    </p:spTree>
    <p:extLst>
      <p:ext uri="{BB962C8B-B14F-4D97-AF65-F5344CB8AC3E}">
        <p14:creationId xmlns:p14="http://schemas.microsoft.com/office/powerpoint/2010/main" val="1208883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5EE8D-9329-4B89-B110-542FA9A0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00E5A-AE37-4F07-85BC-B4FBDF5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不可信内容进入工具执行链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42DCB-0A10-41FA-BDC1-A58E7D3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仓库 README、网页与工具输出可包含攻击指令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C96CE-AE51-4012-A798-A3BE208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模型可能把“总结文档”改成“读取凭据”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47DA9-FF50-4A44-B2AA-BB57000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诱饵产生信号的前提是模型确实接触诱饵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CAD0-EFF3-410A-BC69-83B9EFC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无信号时，执行入口仍需要权限检查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84049-4D2B-4882-80A7-5443981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2/17</a:t>
            </a:r>
          </a:p>
        </p:txBody>
      </p:sp>
    </p:spTree>
    <p:extLst>
      <p:ext uri="{BB962C8B-B14F-4D97-AF65-F5344CB8AC3E}">
        <p14:creationId xmlns:p14="http://schemas.microsoft.com/office/powerpoint/2010/main" val="1287030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26296-9548-411D-B3CE-B0A169DC6F2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77150" y="29146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1196E-F3DF-4E96-BE80-561B571A5D6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48050" y="2914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8BF5A-898F-4F8D-A33F-D5076997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2B16A-E2F7-4552-BF61-902C16F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可信执行入口与信任边界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21D4-FF9A-437C-A5D4-D689F0E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真实模型 / SDK Agent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提出工具请求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4D4C6-D7D8-42F0-86DD-E22BF2C0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86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可信执行网关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权限 / Guard / 审批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58E3E-577B-490E-8D2B-05F86A3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800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登记执行器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实际工具与目标观察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1A936-6E6C-41FF-AB90-64A51D2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低信任输入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B28DA-A608-4F4F-B123-F12CADE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可信宿主控制此边界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CF3D5-9737-4876-9816-A1C31A4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文件句柄、固定命令与批准目标限制执行范围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F774E-8C16-43E8-AC00-7A44246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AI 提供建议，operator 持有审批权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72E66-B1B2-4A81-B244-6275D10E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未接入工具不受此网关保护，网关不提供完整 OS 沙箱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5E83D-B276-4A30-9D07-D1B4066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3/17</a:t>
            </a:r>
          </a:p>
        </p:txBody>
      </p:sp>
    </p:spTree>
    <p:extLst>
      <p:ext uri="{BB962C8B-B14F-4D97-AF65-F5344CB8AC3E}">
        <p14:creationId xmlns:p14="http://schemas.microsoft.com/office/powerpoint/2010/main" val="509597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CF871-EA60-4383-9C48-577D3EF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5C9F7-4027-4883-BD1D-DCCB774A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技术贡献与已验证范围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C10A3-BC34-4324-A1BB-A58BAF2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可信执行：请求、资源与授权绑定，执行前复查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1053E-F891-47B9-9DA4-4AAEA676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证据驱动：区分信号、决策和实际目标效果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BAAD-BFFA-4CAB-BFFD-8AF8D2F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隔离诱饵：五类无效凭据与启发式选择机制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2ED6-5325-4266-AD5B-66CD51A0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AI 只能收紧风险判断，不能批准或解除隔离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BD532-433B-4925-9970-47EB7E4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4/17</a:t>
            </a:r>
          </a:p>
        </p:txBody>
      </p:sp>
    </p:spTree>
    <p:extLst>
      <p:ext uri="{BB962C8B-B14F-4D97-AF65-F5344CB8AC3E}">
        <p14:creationId xmlns:p14="http://schemas.microsoft.com/office/powerpoint/2010/main" val="736057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6242-BB8B-4050-9110-680BB08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7C57F-C46E-468E-A35B-CF9195BE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真实目标见证执行前拒绝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B7253-DC83-4BFE-AE47-F8DF469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A：无保护，虚拟 secret 实际返回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84181-9FA2-4792-B402-223FA94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F：credential_resource_denied，执行 NOT_STARTED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AE976-FD46-4896-94C3-8B37AF7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见证：秘密未返回、文件未变、测试接收端为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B24BC-8134-4260-8D5F-363E34A8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正常任务：读取、写入、构建和有限网络仍可完成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DADA8-C438-459A-89F3-341C508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5/17</a:t>
            </a:r>
          </a:p>
        </p:txBody>
      </p:sp>
    </p:spTree>
    <p:extLst>
      <p:ext uri="{BB962C8B-B14F-4D97-AF65-F5344CB8AC3E}">
        <p14:creationId xmlns:p14="http://schemas.microsoft.com/office/powerpoint/2010/main" val="1943541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46BD9-20A0-47E4-83AD-B27EA471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FAFC-EC02-4CF7-917B-CB54A50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6BEDE-DDF6-4536-BDBB-56F8CEF5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A56AF-C702-4223-AF7C-7D1DCAF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08C15-F9E3-41B4-A5A9-3600795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7285F-4E8D-4AE7-AE2D-E17D52B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81068-CEA8-4805-9D45-D7B4A95F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4F02C6A-340B-4D0B-8198-6E85DC0FB0F7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fa98740295498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8506F-9733-4250-B1CE-C4AE9E5B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8BC96-0958-4E75-998F-E5C98EA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88FEC-9DF7-47AD-9174-E67AEEB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6/17</a:t>
            </a:r>
          </a:p>
        </p:txBody>
      </p:sp>
    </p:spTree>
    <p:extLst>
      <p:ext uri="{BB962C8B-B14F-4D97-AF65-F5344CB8AC3E}">
        <p14:creationId xmlns:p14="http://schemas.microsoft.com/office/powerpoint/2010/main" val="2140404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6F67F-E978-4EA3-9397-AF0DA25F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A9CEF-7F26-4A92-8D9C-DB1BB0F0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安全边界与未证实结论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E309A-4587-478A-A952-53C22413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VERIFIED：受控 SDK 登记工具的有限执行前控制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30E6-3142-4440-8E67-F62FF58E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VERIFIED：原生 Codex / Claude / Cursor 全局覆盖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125D3-60EB-41AA-9348-CD5C9900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PARTIAL：不合作回调、旧 inode 效果、公网 DNS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9BC62-11EA-4924-9996-AE373E8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MEASURED：AI / 自适应独立收益与总体误报率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28666-70F9-4524-A5D9-B8C29734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E5121-DBEC-43C1-B311-1489128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7/17</a:t>
            </a:r>
          </a:p>
        </p:txBody>
      </p:sp>
    </p:spTree>
    <p:extLst>
      <p:ext uri="{BB962C8B-B14F-4D97-AF65-F5344CB8AC3E}">
        <p14:creationId xmlns:p14="http://schemas.microsoft.com/office/powerpoint/2010/main" val="585495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4DB1C-ACF7-477E-BC79-57D0520A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9601E-923D-4872-851C-333D03FE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开源交付与证据分级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3C54C-5CE5-4993-B2CA-D3994D7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MIT 免费 Community 包，公开源码与构建说明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51C5-C37C-479F-BB68-8E60A4B2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冻结 SHA、原始 JSON / CSV、Schema 与负例保留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1A974-9269-4E40-B60B-D1A4721E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E1 信号、E2 决策、E3 有限效果见证分别呈现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FAC08-7B95-4461-BE06-3609EAB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E4 独立复现套件已准备，外部操作者仍待完成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3C9BA-8F76-4DF0-A0C4-2DE44CC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8/17</a:t>
            </a:r>
          </a:p>
        </p:txBody>
      </p:sp>
    </p:spTree>
    <p:extLst>
      <p:ext uri="{BB962C8B-B14F-4D97-AF65-F5344CB8AC3E}">
        <p14:creationId xmlns:p14="http://schemas.microsoft.com/office/powerpoint/2010/main" val="1451929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C51DA-4F56-4436-930D-7F506DF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BF1EE-96DE-4D34-8460-E13732A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相关工作与项目区别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C5B6C-188B-489A-8DCD-84E72D4E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Invariant：规则检查工具流，支持 MCP / LLM 代理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01024-772A-43A1-A545-AE0B1A7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NeMo Guardrails：包含 execution rails 与其他护栏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DF239-379D-4749-A079-7548E1A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Promptfoo / PyRIT：侧重评测与红队工作流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97373-4F83-441D-BA6A-3823ED4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本项目重点：有限资源执行绑定与目标效果证据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40216-1C56-4BB6-82BB-69663D64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资料比较，无同条件性能排名，不宣称首创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8ED70-3A2B-4AC8-AADC-4A40AAC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9/17</a:t>
            </a:r>
          </a:p>
        </p:txBody>
      </p:sp>
    </p:spTree>
    <p:extLst>
      <p:ext uri="{BB962C8B-B14F-4D97-AF65-F5344CB8AC3E}">
        <p14:creationId xmlns:p14="http://schemas.microsoft.com/office/powerpoint/2010/main" val="1330936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BDC56-5103-4130-9203-88A4A36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340AC-69FF-43B5-BF61-70D4A242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后续发展与验收门槛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CEE41-2E16-45FD-B465-DEE19E9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容量：先确认开发预算，维护另计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A3FDA-ED90-491C-B749-57D449CD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维护：拟每月复盘，实际完成再累计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026F1-9BBA-4D93-B86D-D2C703C7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参与：真实外部复现后才能支持 E4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C70F0-6903-4F1D-8A81-1853410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协议：3.1 先定版本与权限，再验宿主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40BBB-4697-49FA-86B1-1269B4F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以上为未来计划；当前仅有一期维护记录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C283-6C53-413D-961E-3E0B95B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10/17</a:t>
            </a:r>
          </a:p>
        </p:txBody>
      </p:sp>
    </p:spTree>
    <p:extLst>
      <p:ext uri="{BB962C8B-B14F-4D97-AF65-F5344CB8AC3E}">
        <p14:creationId xmlns:p14="http://schemas.microsoft.com/office/powerpoint/2010/main" val="861928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50E8C-C377-4F35-B0CB-AE728F9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7A54-D7BE-485C-94C8-B01C023E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备答：样本与指标口径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74A1-C250-4A56-B082-7D75912570E9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238250"/>
                <a:gridCol w="1238250"/>
                <a:gridCol w="591502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旧直接准入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执行准入，不是间接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 README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没有危险尝试，不能归因阻断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新间接攻击效果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作者知情、小样本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新正常完成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仅4种任务各重复2次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9E622-AD27-4182-B9D1-7829A8E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FF275-0786-45AD-A7B2-9037E1D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11/17</a:t>
            </a:r>
          </a:p>
        </p:txBody>
      </p:sp>
    </p:spTree>
    <p:extLst>
      <p:ext uri="{BB962C8B-B14F-4D97-AF65-F5344CB8AC3E}">
        <p14:creationId xmlns:p14="http://schemas.microsoft.com/office/powerpoint/2010/main" val="1757173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080F3-C1C4-4E33-977B-F0FAC5D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D5449-A66B-4B6E-A179-A03BAB0B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备答：E0–E4 证据强度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96924-4C26-45F6-8AA7-49838BCC64C4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486400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证据要求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当前范围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设计/实现可读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Gateway、Policy、Planner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实际观察到信号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历史限定诱饵 READ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可信决策关联请求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OSEP 请求、决策、状态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实际目标观察及正对照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同宿主有限秘密/文件/接收端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另一操作者与独立环境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未完成，不能称独立认证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5308A-2541-4B77-8D1B-E9B94133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429AE-36C7-4A4A-B5F6-90E76BD1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12/17</a:t>
            </a:r>
          </a:p>
        </p:txBody>
      </p:sp>
    </p:spTree>
    <p:extLst>
      <p:ext uri="{BB962C8B-B14F-4D97-AF65-F5344CB8AC3E}">
        <p14:creationId xmlns:p14="http://schemas.microsoft.com/office/powerpoint/2010/main" val="1735302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2BF7-8CFD-480C-9B71-AA4F374D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C346-9599-44A9-8553-03BBE1E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备答：宿主覆盖矩阵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73E1B-5903-413E-9A12-14202F8D4FD9}"/>
              </a:ext>
            </a:extLst>
          </p:cNvPr>
          <p:cNvGraphicFramePr/>
          <p:nvPr/>
        </p:nvGraphicFramePr>
        <p:xfrm>
          <a:off xmlns:a="http://schemas.openxmlformats.org/drawingml/2006/main" x="590550" y="1971675"/>
          <a:ext xmlns:a="http://schemas.openxmlformats.org/drawingml/2006/main" cx="11010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48640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宿主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当前验收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保护范围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+ Qwen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VERIFIED（有限）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运行器登记的工具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MCP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握手/虚拟隔离基线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自有服务登记回调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/ Cline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配置/fixtures，原生E2E未验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/ Cursor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hook/配置，实际启用未验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FDFF6-3F9E-4099-BDAC-E960F97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具体证据与限定范围见讲稿和原始记录；不为整个产品授予认证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B808E-F84F-45CC-AB31-7B892A1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13/17</a:t>
            </a:r>
          </a:p>
        </p:txBody>
      </p:sp>
    </p:spTree>
    <p:extLst>
      <p:ext uri="{BB962C8B-B14F-4D97-AF65-F5344CB8AC3E}">
        <p14:creationId xmlns:p14="http://schemas.microsoft.com/office/powerpoint/2010/main" val="125894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CEFB7-60D9-4FFA-B31C-0AA473E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94318-F477-4FC8-B863-1D04282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备答：延迟与资源解释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92240-AEDE-41CC-BB94-BE5B769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工具调用中位：A 0.391 ms，F 6.577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EBCA-6958-45E3-96EA-9768D15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任务中位：A 1345.0 ms，F 1260.9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691D4-B759-4F5A-8A2A-7C6BE8F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Node 尾部 RSS 范围：约 62.7–68.1 MiB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9B1C9-46F1-465A-BA1D-C2E1C28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不同路径/缓存/顺序影响结果，不是纯 Gateway 开销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4C9FE-CD88-47D2-BF89-A40E670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14/17</a:t>
            </a:r>
          </a:p>
        </p:txBody>
      </p:sp>
    </p:spTree>
    <p:extLst>
      <p:ext uri="{BB962C8B-B14F-4D97-AF65-F5344CB8AC3E}">
        <p14:creationId xmlns:p14="http://schemas.microsoft.com/office/powerpoint/2010/main" val="810974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75BC3-8367-42A8-BD69-5EB6D36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4EBFE-AD8D-4BE6-B649-E91A20A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备答：现场演示降级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665C3-4C0E-4AFB-9570-8E9EE25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网络故障：本地 PPT/PDF、视频与证据 ZIP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B212F-1973-4D6E-A54B-26805A88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Ollama 故障：保存真实轨迹 + 明示操作员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83F20-C17A-44CE-9EBA-6DE47E6C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程序故障：切到已核对视频，不展示伪实时数据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0E2E6-6F64-47CA-9D6D-2B3DACE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现场接口、签到与计时：以入围通知为准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41025-75E6-49D7-8FEF-9725B95F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15/17</a:t>
            </a:r>
          </a:p>
        </p:txBody>
      </p:sp>
    </p:spTree>
    <p:extLst>
      <p:ext uri="{BB962C8B-B14F-4D97-AF65-F5344CB8AC3E}">
        <p14:creationId xmlns:p14="http://schemas.microsoft.com/office/powerpoint/2010/main" val="5360272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92E0-12A1-4710-ACD8-AFD55A1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D31F8-5CA7-4B1D-9013-64A4502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发展计划：证据何时补齐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926A6-1E53-4E7B-9D61-BD1C123CDB0F}"/>
              </a:ext>
            </a:extLst>
          </p:cNvPr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110109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14750"/>
                <a:gridCol w="567690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目前实际情况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下一项可核查证据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估算已公开，投入未确认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维护者确认开发时段与单项预算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10月12日，一期真实复盘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后续月份实际 SHA / 命令 / 故障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外部参与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复现包与贡献模板可用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他人独立环境运行与效果记录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插件协议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SDK 快照与类型补充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版本化接口、兼容测试与宿主 E2E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E5B1F-7584-46B7-B34E-5531B62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未来验收门槛；真实投入、长期记录、E4 和正式协议仍待验证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96E62-A993-4B90-B7C0-0AD4F4C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16/17</a:t>
            </a:r>
          </a:p>
        </p:txBody>
      </p:sp>
    </p:spTree>
    <p:extLst>
      <p:ext uri="{BB962C8B-B14F-4D97-AF65-F5344CB8AC3E}">
        <p14:creationId xmlns:p14="http://schemas.microsoft.com/office/powerpoint/2010/main" val="11591493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A81A-C399-4204-88A9-4116627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技术备答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905ED-666C-4CA9-8F6F-3602AAB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版本路线：资源决定推进速度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DD87-B40B-4345-BFCE-4E428686252E}"/>
              </a:ext>
            </a:extLst>
          </p:cNvPr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110109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14750"/>
                <a:gridCol w="567690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进入前提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拟交付与退出条件</a:t>
                      </a:r>
                    </a:p>
                  </a:txBody>
                  <a:tcPr marL="91440" marR="91440" marT="45720" marB="45720">
                    <a:solidFill>
                      <a:srgbClr val="DDEAE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3.0维护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公开候选、原始日志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先处理安全回归，保留失败与边界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3.1接入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开发预算、官方可信接口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 / 类型 / 兼容；验证不了就延期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固定样本、模型与预算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单变量消融；无收益也公开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 / 4.0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真实需求、稳定身份与证据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团队便利 / 权限研究；不提前实施</a:t>
                      </a:r>
                    </a:p>
                  </a:txBody>
                  <a:tcPr marL="91440" marR="91440" marT="45720" marB="45720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BADC2-B628-4A5A-851C-D728E8E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未来验收门槛；真实投入、长期记录、E4 和正式协议仍待验证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94036-5269-4862-838B-06989F0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17/17</a:t>
            </a:r>
          </a:p>
        </p:txBody>
      </p:sp>
    </p:spTree>
    <p:extLst>
      <p:ext uri="{BB962C8B-B14F-4D97-AF65-F5344CB8AC3E}">
        <p14:creationId xmlns:p14="http://schemas.microsoft.com/office/powerpoint/2010/main" val="1342631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2026-10-12T01:01:14.0580000Z</dcterms:created>
  <dcterms:modified xsi:type="dcterms:W3CDTF">2026-10-12T01:01:14.0580000Z</dcterms:modified>
</coreProperties>
</file>