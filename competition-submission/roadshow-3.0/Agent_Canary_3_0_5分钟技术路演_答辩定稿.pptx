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6cdd4a53a5486e" /><Relationship Type="http://schemas.openxmlformats.org/officeDocument/2006/relationships/extended-properties" Target="/docProps/app.xml" Id="Ra7c922393af841f0" /><Relationship Type="http://schemas.openxmlformats.org/officeDocument/2006/relationships/officeDocument" Target="/ppt/presentation.xml" Id="Rd6f2d43a23384c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63b3810d844e1e"/>
  </p:sldMasterIdLst>
  <p:notesMasterIdLst>
    <p:notesMasterId xmlns:r="http://schemas.openxmlformats.org/officeDocument/2006/relationships" r:id="R2b2fd4c0aa8c4674"/>
  </p:notesMasterIdLst>
  <p:sldIdLst>
    <p:sldId xmlns:r="http://schemas.openxmlformats.org/officeDocument/2006/relationships" id="256" r:id="R0ef4822f342e4466"/>
    <p:sldId xmlns:r="http://schemas.openxmlformats.org/officeDocument/2006/relationships" id="257" r:id="R33f34b2352ce40e4"/>
    <p:sldId xmlns:r="http://schemas.openxmlformats.org/officeDocument/2006/relationships" id="258" r:id="R913caf31c92d4298"/>
    <p:sldId xmlns:r="http://schemas.openxmlformats.org/officeDocument/2006/relationships" id="259" r:id="Rff205e98fdc54a59"/>
    <p:sldId xmlns:r="http://schemas.openxmlformats.org/officeDocument/2006/relationships" id="260" r:id="R4b149f50b2e04999"/>
    <p:sldId xmlns:r="http://schemas.openxmlformats.org/officeDocument/2006/relationships" id="261" r:id="R292975f507974302"/>
    <p:sldId xmlns:r="http://schemas.openxmlformats.org/officeDocument/2006/relationships" id="262" r:id="Rd4e74455057044bd"/>
    <p:sldId xmlns:r="http://schemas.openxmlformats.org/officeDocument/2006/relationships" id="263" r:id="R54762b5467684653"/>
    <p:sldId xmlns:r="http://schemas.openxmlformats.org/officeDocument/2006/relationships" id="264" r:id="R589e6861c337408a"/>
    <p:sldId xmlns:r="http://schemas.openxmlformats.org/officeDocument/2006/relationships" id="265" r:id="Rd8438323741b4ec8"/>
    <p:sldId xmlns:r="http://schemas.openxmlformats.org/officeDocument/2006/relationships" id="266" r:id="R62cac50236df42be"/>
    <p:sldId xmlns:r="http://schemas.openxmlformats.org/officeDocument/2006/relationships" id="267" r:id="R16e18e84379b46be"/>
    <p:sldId xmlns:r="http://schemas.openxmlformats.org/officeDocument/2006/relationships" id="268" r:id="R1d1767b75ae5462c"/>
    <p:sldId xmlns:r="http://schemas.openxmlformats.org/officeDocument/2006/relationships" id="269" r:id="Raa544f7b550c49f4"/>
    <p:sldId xmlns:r="http://schemas.openxmlformats.org/officeDocument/2006/relationships" id="270" r:id="R2b60d68623e243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ad5fce9a974327" /><Relationship Type="http://schemas.openxmlformats.org/officeDocument/2006/relationships/slideMaster" Target="/ppt/slideMasters/slideMaster1.xml" Id="R3e63b3810d844e1e" /><Relationship Type="http://schemas.openxmlformats.org/officeDocument/2006/relationships/notesMaster" Target="/ppt/notesMasters/notesMaster1.xml" Id="R2b2fd4c0aa8c4674" /><Relationship Type="http://schemas.openxmlformats.org/officeDocument/2006/relationships/presProps" Target="/ppt/presProps.xml" Id="Recf2f4a779fd42ad" /><Relationship Type="http://schemas.openxmlformats.org/officeDocument/2006/relationships/tableStyles" Target="/ppt/tableStyles.xml" Id="R0b6ba22399804bd5" /><Relationship Type="http://schemas.openxmlformats.org/officeDocument/2006/relationships/slide" Target="/ppt/slides/slide1.xml" Id="R0ef4822f342e4466" /><Relationship Type="http://schemas.openxmlformats.org/officeDocument/2006/relationships/slide" Target="/ppt/slides/slide2.xml" Id="R33f34b2352ce40e4" /><Relationship Type="http://schemas.openxmlformats.org/officeDocument/2006/relationships/slide" Target="/ppt/slides/slide3.xml" Id="R913caf31c92d4298" /><Relationship Type="http://schemas.openxmlformats.org/officeDocument/2006/relationships/slide" Target="/ppt/slides/slide4.xml" Id="Rff205e98fdc54a59" /><Relationship Type="http://schemas.openxmlformats.org/officeDocument/2006/relationships/slide" Target="/ppt/slides/slide5.xml" Id="R4b149f50b2e04999" /><Relationship Type="http://schemas.openxmlformats.org/officeDocument/2006/relationships/slide" Target="/ppt/slides/slide6.xml" Id="R292975f507974302" /><Relationship Type="http://schemas.openxmlformats.org/officeDocument/2006/relationships/slide" Target="/ppt/slides/slide7.xml" Id="Rd4e74455057044bd" /><Relationship Type="http://schemas.openxmlformats.org/officeDocument/2006/relationships/slide" Target="/ppt/slides/slide8.xml" Id="R54762b5467684653" /><Relationship Type="http://schemas.openxmlformats.org/officeDocument/2006/relationships/slide" Target="/ppt/slides/slide9.xml" Id="R589e6861c337408a" /><Relationship Type="http://schemas.openxmlformats.org/officeDocument/2006/relationships/slide" Target="/ppt/slides/slide10.xml" Id="Rd8438323741b4ec8" /><Relationship Type="http://schemas.openxmlformats.org/officeDocument/2006/relationships/slide" Target="/ppt/slides/slide11.xml" Id="R62cac50236df42be" /><Relationship Type="http://schemas.openxmlformats.org/officeDocument/2006/relationships/slide" Target="/ppt/slides/slide12.xml" Id="R16e18e84379b46be" /><Relationship Type="http://schemas.openxmlformats.org/officeDocument/2006/relationships/slide" Target="/ppt/slides/slide13.xml" Id="R1d1767b75ae5462c" /><Relationship Type="http://schemas.openxmlformats.org/officeDocument/2006/relationships/slide" Target="/ppt/slides/slide14.xml" Id="Raa544f7b550c49f4" /><Relationship Type="http://schemas.openxmlformats.org/officeDocument/2006/relationships/slide" Target="/ppt/slides/slide15.xml" Id="R2b60d68623e243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66d42eec924d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a0d8522e0f4ff7" /><Relationship Type="http://schemas.openxmlformats.org/officeDocument/2006/relationships/notesMaster" Target="/ppt/notesMasters/notesMaster1.xml" Id="Rc6312f7de87d40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04cf9fda3244f0" /><Relationship Type="http://schemas.openxmlformats.org/officeDocument/2006/relationships/notesMaster" Target="/ppt/notesMasters/notesMaster1.xml" Id="R4c1ab21007774e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9e435752794c0e" /><Relationship Type="http://schemas.openxmlformats.org/officeDocument/2006/relationships/notesMaster" Target="/ppt/notesMasters/notesMaster1.xml" Id="Rbe111bc7e4364c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13befc84324ca8" /><Relationship Type="http://schemas.openxmlformats.org/officeDocument/2006/relationships/notesMaster" Target="/ppt/notesMasters/notesMaster1.xml" Id="R18d89f5b2f104f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1f5589681a4756" /><Relationship Type="http://schemas.openxmlformats.org/officeDocument/2006/relationships/notesMaster" Target="/ppt/notesMasters/notesMaster1.xml" Id="R83d3be1e375243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c1be18c26c4835" /><Relationship Type="http://schemas.openxmlformats.org/officeDocument/2006/relationships/notesMaster" Target="/ppt/notesMasters/notesMaster1.xml" Id="R51e011e1df0947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8bacc9295845ef" /><Relationship Type="http://schemas.openxmlformats.org/officeDocument/2006/relationships/notesMaster" Target="/ppt/notesMasters/notesMaster1.xml" Id="Raa2a9de3314b4e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e7426df7d1410b" /><Relationship Type="http://schemas.openxmlformats.org/officeDocument/2006/relationships/notesMaster" Target="/ppt/notesMasters/notesMaster1.xml" Id="R779ed97d5f4e4e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858018bbf6418f" /><Relationship Type="http://schemas.openxmlformats.org/officeDocument/2006/relationships/notesMaster" Target="/ppt/notesMasters/notesMaster1.xml" Id="R81ef8cea86334f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8714bb3e904130" /><Relationship Type="http://schemas.openxmlformats.org/officeDocument/2006/relationships/notesMaster" Target="/ppt/notesMasters/notesMaster1.xml" Id="Rbbc6bc04502447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d46fe986944180" /><Relationship Type="http://schemas.openxmlformats.org/officeDocument/2006/relationships/notesMaster" Target="/ppt/notesMasters/notesMaster1.xml" Id="Rf4c6f408e77044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997cedd8354ee6" /><Relationship Type="http://schemas.openxmlformats.org/officeDocument/2006/relationships/notesMaster" Target="/ppt/notesMasters/notesMaster1.xml" Id="Rf24242bcdedd45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0b231c0fb94d4a" /><Relationship Type="http://schemas.openxmlformats.org/officeDocument/2006/relationships/notesMaster" Target="/ppt/notesMasters/notesMaster1.xml" Id="Rdd2b84a5c6e245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c3d8ceec2441e3" /><Relationship Type="http://schemas.openxmlformats.org/officeDocument/2006/relationships/notesMaster" Target="/ppt/notesMasters/notesMaster1.xml" Id="Reda3493feeda43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28de87e31c483a" /><Relationship Type="http://schemas.openxmlformats.org/officeDocument/2006/relationships/notesMaster" Target="/ppt/notesMasters/notesMaster1.xml" Id="R8b568312865644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15 秒。</a:t>
            </a:r>
          </a:p>
          <a:p xmlns:a="http://schemas.openxmlformats.org/drawingml/2006/main">
            <a:r>
              <a:t>各位评委好，我是唐林博豪。Agent Canary 面向能够调用工具的 AI Agent，目标是在可信入口检查权限，并让第三方核对实际目标效果。今天展示限定受控 SDK 的工程证据，不作全局防护承诺。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docs/3.0/FINAL_COMPETITION_READINESS.md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25 秒。</a:t>
            </a:r>
          </a:p>
          <a:p xmlns:a="http://schemas.openxmlformats.org/drawingml/2006/main">
            <a:r>
              <a:t>模型接触低信任内容后可能改变任务。我们的新留出样本中，无保护 Agent 在两种文本上返回了虚拟秘密。这是真实本地模型的工具选择。与此同时，模型没有自主接触诱饵，所以诱饵检测不能承担全部防护。首次调用需要可信权限检查。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security-lab/evidence/2026-10-11T15-04-14-292Z/results.json</a:t>
            </a:r>
          </a:p>
          <a:p xmlns:a="http://schemas.openxmlformats.org/drawingml/2006/main">
            <a:r>
              <a:t>src/runtime/gateway.ts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35 秒。</a:t>
            </a:r>
          </a:p>
          <a:p xmlns:a="http://schemas.openxmlformats.org/drawingml/2006/main">
            <a:r>
              <a:t>模型只持有 dispatch。宿主持有工具描述、文件句柄和审批能力。网关在执行前检查参数与最小权限，必要时要求人工审批。文件使用预持有句柄，命令采用固定程序和参数，网络限制批准目标。该入口控制登记能力，不是系统调用级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src/runtime/gateway.ts</a:t>
            </a:r>
          </a:p>
          <a:p xmlns:a="http://schemas.openxmlformats.org/drawingml/2006/main">
            <a:r>
              <a:t>docs/3.0/SECURITY_BOUNDARIES.md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30 秒。</a:t>
            </a:r>
          </a:p>
          <a:p xmlns:a="http://schemas.openxmlformats.org/drawingml/2006/main">
            <a:r>
              <a:t>我们的贡献是把资源约束执行、会话隔离和效果证据连接起来。E0到E4帮助解释主张强度。蜜罐在临时空间使用无效资产。自适应选择机制已经存在，但没有公平收益消融；我们不申报触发率提升。AI的结果不授予任何新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docs/3.0/EVIDENCE_ASSURANCE_MAPPING.md</a:t>
            </a:r>
          </a:p>
          <a:p xmlns:a="http://schemas.openxmlformats.org/drawingml/2006/main">
            <a:r>
              <a:t>src/runtime/honeypot.ts</a:t>
            </a:r>
          </a:p>
          <a:p xmlns:a="http://schemas.openxmlformats.org/drawingml/2006/main">
            <a:r>
              <a:t>docs/3.0/SECURITY_BOUNDARIES.md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45 秒。</a:t>
            </a:r>
          </a:p>
          <a:p xmlns:a="http://schemas.openxmlformats.org/drawingml/2006/main">
            <a:r>
              <a:t>这里先回放相同场景H08或H10的原始A/F轨迹：A实际返回虚拟秘密，F在读取前拒绝。然后运行离线操作员DEMO，检查文件和回调计数。DEMO是真实临时I/O，但不是模型自主攻击。我们展示证据与观察，不把页面上的DENY当成无副作用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security-lab/evidence/2026-10-11T15-04-14-292Z/results.json</a:t>
            </a:r>
          </a:p>
          <a:p xmlns:a="http://schemas.openxmlformats.org/drawingml/2006/main">
            <a:r>
              <a:t>competition-submission/3.0-final/有限凭据拒绝证据.json</a:t>
            </a:r>
          </a:p>
          <a:p xmlns:a="http://schemas.openxmlformats.org/drawingml/2006/main">
            <a:r>
              <a:t>test/gateway-acceptance.test.ts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35 秒。</a:t>
            </a:r>
          </a:p>
          <a:p xmlns:a="http://schemas.openxmlformats.org/drawingml/2006/main">
            <a:r>
              <a:t>冻结策略后，12个新间接攻击文本和4种正常任务各重复两次，两组共64次运行。A攻击效果4/24，F为0/24。F只有6/24任务存在拒绝，其余没有攻击效果不能计为主动拦截。重复相关、作者知晓设计，不是64个独立样本。AI审查和Canary触发均为0，不能归因其独立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security-lab/evidence/2026-10-11T15-04-14-292Z/results.json</a:t>
            </a:r>
          </a:p>
          <a:p xmlns:a="http://schemas.openxmlformats.org/drawingml/2006/main">
            <a:r>
              <a:t>competition-submission/roadshow-3.0/evidence/FROZEN_FACTS.json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30 秒。</a:t>
            </a:r>
          </a:p>
          <a:p xmlns:a="http://schemas.openxmlformats.org/drawingml/2006/main">
            <a:r>
              <a:t>最大边界是未接入的工具不受保护。原生宿主只有配置或部分hook证据，不能替代SDK验收。已开始并不合作的回调可能产生迟到副作用，文件句柄也不提供事务回滚。0/24和8/8只描述这一批任务。独立操作者E4还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docs/3.0/SECURITY_BOUNDARIES.md</a:t>
            </a:r>
          </a:p>
          <a:p xmlns:a="http://schemas.openxmlformats.org/drawingml/2006/main">
            <a:r>
              <a:t>docs/3.0/AGENT_COVERAGE_MATRIX.md</a:t>
            </a:r>
          </a:p>
          <a:p xmlns:a="http://schemas.openxmlformats.org/drawingml/2006/main">
            <a:r>
              <a:t>test/gateway-acceptance.test.ts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35 秒。</a:t>
            </a:r>
          </a:p>
          <a:p xmlns:a="http://schemas.openxmlformats.org/drawingml/2006/main">
            <a:r>
              <a:t>评委可以下载免费包运行自检，在完整冻结Git checkout复查原始记录和Schema。MIT保持不变。负面结果、失败启动和不合作回调反例都保留。证据哈希链只相对可信锚检查一致性，管理员仍可重写整链。我们提供外部复现套件，但不会把自己的新目录自测说成E4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docs/3.0/FINAL_COMPETITION_READINESS.md</a:t>
            </a:r>
          </a:p>
          <a:p xmlns:a="http://schemas.openxmlformats.org/drawingml/2006/main">
            <a:r>
              <a:t>docs/3.0/EVIDENCE_ASSURANCE_MAPPING.md</a:t>
            </a:r>
          </a:p>
          <a:p xmlns:a="http://schemas.openxmlformats.org/drawingml/2006/main">
            <a:r>
              <a:t>LICENSE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30 秒。</a:t>
            </a:r>
          </a:p>
          <a:p xmlns:a="http://schemas.openxmlformats.org/drawingml/2006/main">
            <a:r>
              <a:t>执行前控制已有真实相关方案。例如Invariant可监控工具流并拦截调用，NeMo也有执行护栏。Promptfoo和PyRIT适合组织风险评测。本项目的区别是围绕有限资源绑定、诱饵隔离及副作用见证形成小型TypeScript工程闭环。我们尚无同条件竞品测试，因此不宣称防护优于这些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https://github.com/invariantlabs-ai/invariant</a:t>
            </a:r>
          </a:p>
          <a:p xmlns:a="http://schemas.openxmlformats.org/drawingml/2006/main">
            <a:r>
              <a:t>https://github.com/NVIDIA/NeMo-Guardrails</a:t>
            </a:r>
          </a:p>
          <a:p xmlns:a="http://schemas.openxmlformats.org/drawingml/2006/main">
            <a:r>
              <a:t>https://github.com/promptfoo/promptfoo</a:t>
            </a:r>
          </a:p>
          <a:p xmlns:a="http://schemas.openxmlformats.org/drawingml/2006/main">
            <a:r>
              <a:t>https://github.com/microsoft/PyRIT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20 秒。</a:t>
            </a:r>
          </a:p>
          <a:p xmlns:a="http://schemas.openxmlformats.org/drawingml/2006/main">
            <a:r>
              <a:t>Agent Canary当前最强的成果是能够核对的受控执行前防护。下一步优先独立操作者复现和一个官方宿主入口验证，然后用公平消融评价AI与自适应机制。我们开放源码、原始数据与复现流程，欢迎评委按冻结版本检验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https://github.com/DorianChn/shanchuanzhi-agent-canary/releases/tag/v3.0.0-competition-candidate.1</a:t>
            </a:r>
          </a:p>
          <a:p xmlns:a="http://schemas.openxmlformats.org/drawingml/2006/main">
            <a:r>
              <a:t>docs/3.0/FINAL_COMPETITION_READINESS.md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备答，不计入主讲时间。</a:t>
            </a:r>
          </a:p>
          <a:p xmlns:a="http://schemas.openxmlformats.org/drawingml/2006/main">
            <a:r>
              <a:t>新数据为16独特任务、2次相关重复、2组。分母24是攻击试验，不是24独立文本；64含16正常试验。攻击成功按秘密返回、victim变化、sink收到请求或特权marker定义。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security-lab/evidence/2026-10-11T15-04-14-292Z/results.json</a:t>
            </a:r>
          </a:p>
          <a:p xmlns:a="http://schemas.openxmlformats.org/drawingml/2006/main">
            <a:r>
              <a:t>security-lab/evidence/2026-10-11T13-34-53-835Z/results.json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备答，不计入主讲时间。</a:t>
            </a:r>
          </a:p>
          <a:p xmlns:a="http://schemas.openxmlformats.org/drawingml/2006/main">
            <a:r>
              <a:t>本项目研究分级，不是官方标准。E3要求目标见证，不是VERIFIED字段。哈希链不证明事件真实性或防管理员重写。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docs/3.0/EVIDENCE_ASSURANCE_MAPPING.md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备答，不计入主讲时间。</a:t>
            </a:r>
          </a:p>
          <a:p xmlns:a="http://schemas.openxmlformats.org/drawingml/2006/main">
            <a:r>
              <a:t>不能把宿主列表写成全局支持名单。模型、协议握手、SDK保护、原生宿主E2E是不同层次。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docs/3.0/AGENT_COVERAGE_MATRIX.md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备答，不计入主讲时间。</a:t>
            </a:r>
          </a:p>
          <a:p xmlns:a="http://schemas.openxmlformats.org/drawingml/2006/main">
            <a:r>
              <a:t>数据来源holdout-metrics-detail，资源只覆盖Node样本尾，不含Ollama/GPU，不能称模型内存或全程峰值。AI审查本批0次，延迟与独立收益NOT MEASURED。本地无付费API，能耗未测。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security-lab/competition-freeze/holdout-metrics-detail.json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备答，不计入主讲时间。</a:t>
            </a:r>
          </a:p>
          <a:p xmlns:a="http://schemas.openxmlformats.org/drawingml/2006/main">
            <a:r>
              <a:t>既有视频约213秒，中文字幕无音轨，操作者真实浏览器操作与历史模型回放分开。本轮不重录假模型视频。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docs/3.0/FINAL_COMPETITION_READINESS.md</a:t>
            </a:r>
          </a:p>
          <a:p xmlns:a="http://schemas.openxmlformats.org/drawingml/2006/main">
            <a:r>
              <a:t>competition-submission/3.0-final/video-final-verification.json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c21fd9e3146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d345409cb42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2f979cd0547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c4723f2f34c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a5da8ce2741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dcaa0a01b4b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1C1AFD-AE88-4099-B6C4-F149C5F14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D302B9-08D0-40A9-8759-9B3316ECFF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665368-64DB-403B-9594-1F9FB5A9E7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CCA4CA-A5DC-4130-AC58-9EEADF821D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76F94EE-F41C-477F-BAB4-9189A1EF44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0E3141-0BF0-406C-8F57-115A64CE4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1F95E7-D5CB-4B87-A559-102A540CD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51317D-7323-48C6-BA35-5E02832419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E6084F-F741-49DC-A6E7-9480AFDF5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5B69ED-DF95-4F5A-B4FD-883B6CE6E9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eb4753eda34ead" /><Relationship Type="http://schemas.openxmlformats.org/officeDocument/2006/relationships/slideLayout" Target="/ppt/slideLayouts/slideLayout1.xml" Id="Rfe497efea5904762" /><Relationship Type="http://schemas.openxmlformats.org/officeDocument/2006/relationships/slideLayout" Target="/ppt/slideLayouts/slideLayout2.xml" Id="Rf2bfbf2b2137438b" /><Relationship Type="http://schemas.openxmlformats.org/officeDocument/2006/relationships/slideLayout" Target="/ppt/slideLayouts/slideLayout3.xml" Id="R11e9f7ae0866435a" /><Relationship Type="http://schemas.openxmlformats.org/officeDocument/2006/relationships/slideLayout" Target="/ppt/slideLayouts/slideLayout4.xml" Id="R08147b1caa3741b3" /><Relationship Type="http://schemas.openxmlformats.org/officeDocument/2006/relationships/slideLayout" Target="/ppt/slideLayouts/slideLayout5.xml" Id="Re55438004c1f48b0" /><Relationship Type="http://schemas.openxmlformats.org/officeDocument/2006/relationships/slideLayout" Target="/ppt/slideLayouts/slideLayout6.xml" Id="R956cc89fa40f45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497efea5904762"/>
    <p:sldLayoutId xmlns:r="http://schemas.openxmlformats.org/officeDocument/2006/relationships" id="2147483650" r:id="Rf2bfbf2b2137438b"/>
    <p:sldLayoutId xmlns:r="http://schemas.openxmlformats.org/officeDocument/2006/relationships" id="2147483651" r:id="R11e9f7ae0866435a"/>
    <p:sldLayoutId xmlns:r="http://schemas.openxmlformats.org/officeDocument/2006/relationships" id="2147483652" r:id="R08147b1caa3741b3"/>
    <p:sldLayoutId xmlns:r="http://schemas.openxmlformats.org/officeDocument/2006/relationships" id="2147483653" r:id="Re55438004c1f48b0"/>
    <p:sldLayoutId xmlns:r="http://schemas.openxmlformats.org/officeDocument/2006/relationships" id="2147483654" r:id="R956cc89fa40f45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e6d688a3594408" /><Relationship Type="http://schemas.openxmlformats.org/officeDocument/2006/relationships/notesSlide" Target="/ppt/notesSlides/notesSlide1.xml" Id="Rac323bf9ac0842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d5b24b31b54965" /><Relationship Type="http://schemas.openxmlformats.org/officeDocument/2006/relationships/notesSlide" Target="/ppt/notesSlides/notesSlide2.xml" Id="Rdb46ef2ccc444d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fa70162d7642de" /><Relationship Type="http://schemas.openxmlformats.org/officeDocument/2006/relationships/notesSlide" Target="/ppt/notesSlides/notesSlide3.xml" Id="R6db4ee1933d147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79e1d8dd704cb6" /><Relationship Type="http://schemas.openxmlformats.org/officeDocument/2006/relationships/notesSlide" Target="/ppt/notesSlides/notesSlide4.xml" Id="Raa9985c70b344d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dfaa116b3c4c56" /><Relationship Type="http://schemas.openxmlformats.org/officeDocument/2006/relationships/notesSlide" Target="/ppt/notesSlides/notesSlide5.xml" Id="Re94f66c9086848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32ce10bf1c4d1f" /><Relationship Type="http://schemas.openxmlformats.org/officeDocument/2006/relationships/chart" Target="/ppt/slides/charts/chart1.xml" Id="R8248f98f41c94af1" /><Relationship Type="http://schemas.openxmlformats.org/officeDocument/2006/relationships/notesSlide" Target="/ppt/notesSlides/notesSlide6.xml" Id="R85dc8ab6484547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a5b4c4a8414e5b" /><Relationship Type="http://schemas.openxmlformats.org/officeDocument/2006/relationships/notesSlide" Target="/ppt/notesSlides/notesSlide7.xml" Id="R3713bf3b508140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80d56b95604b51" /><Relationship Type="http://schemas.openxmlformats.org/officeDocument/2006/relationships/notesSlide" Target="/ppt/notesSlides/notesSlide8.xml" Id="R4b8c2d3cb70745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3f9979086e4814" /><Relationship Type="http://schemas.openxmlformats.org/officeDocument/2006/relationships/notesSlide" Target="/ppt/notesSlides/notesSlide9.xml" Id="R352c02367c4646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9fbfa1fc124311" /><Relationship Type="http://schemas.openxmlformats.org/officeDocument/2006/relationships/notesSlide" Target="/ppt/notesSlides/notesSlide10.xml" Id="R88bc14599f424c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fade290c434d6b" /><Relationship Type="http://schemas.openxmlformats.org/officeDocument/2006/relationships/notesSlide" Target="/ppt/notesSlides/notesSlide11.xml" Id="R0b6bd0a03a744e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4ead729cca4205" /><Relationship Type="http://schemas.openxmlformats.org/officeDocument/2006/relationships/notesSlide" Target="/ppt/notesSlides/notesSlide12.xml" Id="R4726dae19f2a45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642ee987e1455e" /><Relationship Type="http://schemas.openxmlformats.org/officeDocument/2006/relationships/notesSlide" Target="/ppt/notesSlides/notesSlide13.xml" Id="R4fcda9f3961f4c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dc550ad4c1412d" /><Relationship Type="http://schemas.openxmlformats.org/officeDocument/2006/relationships/notesSlide" Target="/ppt/notesSlides/notesSlide14.xml" Id="R9de8d006c2834a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440e1c4f748d0" /><Relationship Type="http://schemas.openxmlformats.org/officeDocument/2006/relationships/notesSlide" Target="/ppt/notesSlides/notesSlide15.xml" Id="R5c5be559b5e1448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实际攻击效果次数</c:v>
          </c:tx>
          <c:spPr>
            <a:solidFill xmlns:a="http://schemas.openxmlformats.org/drawingml/2006/main">
              <a:srgbClr val="087C76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A 无保护</c:v>
                </c:pt>
                <c:pt idx="1">
                  <c:v>F 完整系统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7F8FA"/>
        </a:solidFill>
      </c:spPr>
    </c:plotArea>
    <c:plotVisOnly val="1"/>
  </c:chart>
  <c:spPr>
    <a:solidFill xmlns:a="http://schemas.openxmlformats.org/drawingml/2006/main">
      <a:srgbClr val="F7F8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A7215-BB92-4334-AB06-AF2B1A8B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rPr>
              <a:t>2026 上海开源软件应用创新大赛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9E2D9-A0C2-44D8-8313-A671423E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Canary 3.0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32900-1EEB-43DF-8CB9-8C0C21DE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rPr>
              <a:t>可验证的 AI Agent 执行前安全控制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5E3E4-8340-41CB-A2B3-5FF0AE13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rPr>
              <a:t>唐林博豪 · 闽江大学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594C9-587A-45D7-A937-7A250973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815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rPr>
              <a:t>开源 AI 工具赛道 · 自主选题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56AC8-4B97-4825-A14E-9895995C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768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rPr>
              <a:t>运行时冻结 99660b36 · MIT Community 候选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2B2BC-DF02-4F96-AF58-4FBF9333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rPr>
              <a:t>99660b36 · 限定受控 SDK 工具 · 1/15</a:t>
            </a:r>
          </a:p>
        </p:txBody>
      </p:sp>
    </p:spTree>
    <p:extLst>
      <p:ext uri="{BB962C8B-B14F-4D97-AF65-F5344CB8AC3E}">
        <p14:creationId xmlns:p14="http://schemas.microsoft.com/office/powerpoint/2010/main" val="664811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0396F-AE6C-4760-BD89-5F367331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B569B-A4F3-4BA8-AD72-C7C63C94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不可信内容进入工具执行链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78679-6FF6-4BDB-BF01-AA5380A8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仓库 README、网页与工具输出可包含攻击指令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E9548-FC89-4F69-87D3-9BAECF99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模型可能把“总结文档”改成“读取凭据”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53DE9-D26F-4B46-92C5-DA67BDDF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诱饵产生信号的前提是模型确实接触诱饵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CC03C-97DF-4582-ACD3-D9C5F243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无信号时，执行入口仍需要权限检查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35893-3E22-4125-A3CC-C2F9FC23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2/15</a:t>
            </a:r>
          </a:p>
        </p:txBody>
      </p:sp>
    </p:spTree>
    <p:extLst>
      <p:ext uri="{BB962C8B-B14F-4D97-AF65-F5344CB8AC3E}">
        <p14:creationId xmlns:p14="http://schemas.microsoft.com/office/powerpoint/2010/main" val="913163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55E2D-11CA-4479-8E7D-CE5E9BC1058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77150" y="291465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C76"/>
            </a:solidFill>
            <a:headEnd type="none" w="med" len="me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255FB-0BD8-4BE3-AC83-16D890CE2BF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48050" y="29146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C76"/>
            </a:solidFill>
            <a:headEnd type="none" w="med" len="me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69B15-FCF1-4C46-8817-F18DE561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3CFD1-0D3A-46FE-9A9A-A7C778B2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可信执行入口与信任边界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9A7FA-E7BD-46BC-A97B-3D0D2615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9525">
            <a:solidFill>
              <a:srgbClr val="D8E0E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真实模型 / SDK Agent</a:t>
            </a:r>
          </a:p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提出工具请求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34150-74F5-4043-8C74-62FB7BF9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3086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EC"/>
          </a:solidFill>
          <a:ln xmlns:a="http://schemas.openxmlformats.org/drawingml/2006/main" w="9525">
            <a:solidFill>
              <a:srgbClr val="D8E0E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可信执行网关</a:t>
            </a:r>
          </a:p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权限 / Guard / 审批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FCB81-B50B-43CD-B9F7-DC4BADDB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800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9525">
            <a:solidFill>
              <a:srgbClr val="D8E0E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登记执行器</a:t>
            </a:r>
          </a:p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实际工具与目标观察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8EB9A-2CE6-4ADC-A8EB-1CD5C3EE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低信任输入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E8E60-1541-489E-A9FE-1A23FC26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28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可信宿主控制此边界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50387-D12B-4EC6-B170-FEC912AC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文件句柄、固定命令与批准目标限制执行范围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08138-AB55-462F-A1DF-704827BD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7202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AI 提供建议，operator 持有审批权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51A5C-69A3-47DB-8EFE-42885AE3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未接入工具不受此网关保护，网关不提供完整 OS 沙箱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27CF6-E6E8-45F1-832F-BA2A745C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3/15</a:t>
            </a:r>
          </a:p>
        </p:txBody>
      </p:sp>
    </p:spTree>
    <p:extLst>
      <p:ext uri="{BB962C8B-B14F-4D97-AF65-F5344CB8AC3E}">
        <p14:creationId xmlns:p14="http://schemas.microsoft.com/office/powerpoint/2010/main" val="11077869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0FC1D-59CF-4D97-9140-F815B04D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42F55-69D5-4A0A-84F5-87F046B0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技术贡献与已验证范围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9EFC1-1188-44C2-9865-CEF1B0E2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可信执行：请求、资源与授权绑定，执行前复查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905C4-9BA9-4B7C-9F52-911AD8CC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证据驱动：区分信号、决策和实际目标效果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163D7-DB58-4E6E-9127-29EF9F6F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隔离诱饵：五类无效凭据与启发式选择机制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0BE04-F912-475A-82B2-02BCB111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AI 只能收紧风险判断，不能批准或解除隔离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05992-0E4E-41BC-A338-59E5D969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4/15</a:t>
            </a:r>
          </a:p>
        </p:txBody>
      </p:sp>
    </p:spTree>
    <p:extLst>
      <p:ext uri="{BB962C8B-B14F-4D97-AF65-F5344CB8AC3E}">
        <p14:creationId xmlns:p14="http://schemas.microsoft.com/office/powerpoint/2010/main" val="1093941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84701-8D0B-4891-A3B9-DBCC6C13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82956-0ADA-4DDE-A6BF-F0AE62DD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真实目标见证执行前拒绝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8513A-91E6-4BD1-B239-AB6911D7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A：无保护，虚拟 secret 实际返回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3372E-175C-42D8-B54C-EC11DDAD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F：credential_resource_denied，执行 NOT_STARTED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FACD3-DD9F-4F8D-A2D6-CCF8BC6A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见证：秘密未返回、文件未变、测试接收端为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5D390-0804-4947-841B-348CD7F5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正常任务：读取、写入、构建和有限网络仍可完成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B6117-0A5C-4774-A78A-88F55178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5/15</a:t>
            </a:r>
          </a:p>
        </p:txBody>
      </p:sp>
    </p:spTree>
    <p:extLst>
      <p:ext uri="{BB962C8B-B14F-4D97-AF65-F5344CB8AC3E}">
        <p14:creationId xmlns:p14="http://schemas.microsoft.com/office/powerpoint/2010/main" val="1141378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6618B-EE08-4A69-9C6F-5D4B6070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79AE6-3A6E-4589-832E-203FE4B6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真实 Qwen 留出对照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363A8-B9CA-4FF8-96BA-03C7E1F6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本批实际攻击效果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270EA-D568-4EE4-8AEC-ABBF71F0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4/24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8703B-C39D-4F2D-B898-70DDF0B8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A 无保护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49A5E-1C17-4036-9D2E-25897AC6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0/24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E148F-2258-4C06-9FFE-6325E695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 完整系统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D2199E9A-F540-46FB-9E00-9D8DA49CB1F0}"/>
              </a:ext>
            </a:extLst>
          </p:cNvPr>
          <p:cNvGraphicFramePr/>
          <p:nvPr/>
        </p:nvGraphicFramePr>
        <p:xfrm>
          <a:off xmlns:a="http://schemas.openxmlformats.org/drawingml/2006/main" x="4591050" y="2124075"/>
          <a:ext xmlns:a="http://schemas.openxmlformats.org/drawingml/2006/main" cx="67246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48f98f41c94af1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06F0C-3BD8-498F-938D-7CE0A364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19700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 有拒绝任务 6/24     正常任务 A/F 均 8/8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05039-2857-4449-88A0-BC30D9A4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762625"/>
            <a:ext cx="681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12 攻击文本 × 2 次重复；作者知情、固定种子、重复相关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B28BB-964E-4E54-98B4-F84A4B37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6/15</a:t>
            </a:r>
          </a:p>
        </p:txBody>
      </p:sp>
    </p:spTree>
    <p:extLst>
      <p:ext uri="{BB962C8B-B14F-4D97-AF65-F5344CB8AC3E}">
        <p14:creationId xmlns:p14="http://schemas.microsoft.com/office/powerpoint/2010/main" val="13421764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B231C-4DE7-45C2-9A27-019B1208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8F4E5-6C32-472B-AD06-4124F57D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安全边界与未证实结论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57A59-A151-4693-AEAB-F09CA6D5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VERIFIED：受控 SDK 登记工具的有限执行前控制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B15B6-F07F-4414-A0F7-5CC82B4D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NOT VERIFIED：原生 Codex / Claude / Cursor 全局覆盖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735DC-8F40-4320-A16D-491BAF8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PARTIAL：不合作回调、旧 inode 效果、公网 DNS 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4AE31-1F90-474D-A326-088ED5BF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NOT MEASURED：AI / 自适应独立收益与总体误报率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E9501-CFB1-42A4-88D0-C80E5A35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0/24 是本批观察，不能表示 100% 防护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657FA-2DE5-474C-AF0B-DF03E1CD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7/15</a:t>
            </a:r>
          </a:p>
        </p:txBody>
      </p:sp>
    </p:spTree>
    <p:extLst>
      <p:ext uri="{BB962C8B-B14F-4D97-AF65-F5344CB8AC3E}">
        <p14:creationId xmlns:p14="http://schemas.microsoft.com/office/powerpoint/2010/main" val="16037700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99135-8CF9-46B8-B700-097D7CA1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5B807-DE0E-4D69-ACCF-E1A3F1CC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开源交付与证据分级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1DA26-873A-4437-A97F-F8942A89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MIT 免费 Community 包，公开源码与构建说明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BA04F-629A-4F1D-821A-77D35FFF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冻结 SHA、原始 JSON / CSV、Schema 与负例保留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6A262-C935-4B15-A0A0-47E48EF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E1 信号、E2 决策、E3 有限效果见证分别呈现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2FE2E-A6C3-4C81-8D9A-96A1B13E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E4 独立复现套件已准备，外部操作者仍待完成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96C78-2317-4868-B1F0-6EF398FA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8/15</a:t>
            </a:r>
          </a:p>
        </p:txBody>
      </p:sp>
    </p:spTree>
    <p:extLst>
      <p:ext uri="{BB962C8B-B14F-4D97-AF65-F5344CB8AC3E}">
        <p14:creationId xmlns:p14="http://schemas.microsoft.com/office/powerpoint/2010/main" val="19699053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BDD59-A692-4D1B-ACFD-5C58090F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E825E-B620-46C5-8DEF-2F372BEF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相关工作与项目区别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9F9D1-33FB-42E0-AD85-8447D905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Invariant：规则检查工具流，支持 MCP / LLM 代理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64448-FD27-4B96-95E0-D3318A66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NeMo Guardrails：包含 execution rails 与其他护栏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10790-D0CD-49CC-8C4F-0FA98A37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Promptfoo / PyRIT：侧重评测与红队工作流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B5563-20FE-4EF7-81BF-1247668C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本项目重点：有限资源执行绑定与目标效果证据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CBAC5-955D-4AAF-91C2-C8B89A40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资料比较，无同条件性能排名，不宣称首创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E2682-D902-4CA3-9F67-FA1E50A3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9/15</a:t>
            </a:r>
          </a:p>
        </p:txBody>
      </p:sp>
    </p:spTree>
    <p:extLst>
      <p:ext uri="{BB962C8B-B14F-4D97-AF65-F5344CB8AC3E}">
        <p14:creationId xmlns:p14="http://schemas.microsoft.com/office/powerpoint/2010/main" val="7907107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D8421-303B-4EA2-BB93-B1BF73C6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FA199-A349-4115-AC9B-A4C14BA9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复现入口与下一步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B4CE6-B339-433A-9044-545F28B4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11010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公开候选：v3.0.0-competition-candidate.1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7C5F2-BBA1-4DC6-8395-54A60F63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11010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优先补齐：外部复现与一个原生宿主受控入口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03FAF-D8F4-46C1-A5F8-C41D7F2F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1010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12 个月路线：Adapter、消融评测、维护与互操作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4DF15-2921-41E9-92D0-8633A64C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github.com/DorianChn/shanchuanzhi-agent-canary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5D3B0-CB0C-4973-B8F2-06105294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10/15</a:t>
            </a:r>
          </a:p>
        </p:txBody>
      </p:sp>
    </p:spTree>
    <p:extLst>
      <p:ext uri="{BB962C8B-B14F-4D97-AF65-F5344CB8AC3E}">
        <p14:creationId xmlns:p14="http://schemas.microsoft.com/office/powerpoint/2010/main" val="5214782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B052C-7361-4A88-9FD4-6FCD079E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技术备答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5BF1A-B647-49F6-9DCF-CEEC73A8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备答：样本与指标口径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C65B8-4201-4980-A4F1-D4A9661765F2}"/>
              </a:ext>
            </a:extLst>
          </p:cNvPr>
          <p:cNvGraphicFramePr/>
          <p:nvPr/>
        </p:nvGraphicFramePr>
        <p:xfrm>
          <a:off xmlns:a="http://schemas.openxmlformats.org/drawingml/2006/main" x="590550" y="1971675"/>
          <a:ext xmlns:a="http://schemas.openxmlformats.org/drawingml/2006/main" cx="110109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1238250"/>
                <a:gridCol w="1238250"/>
                <a:gridCol w="5915025"/>
              </a:tblGrid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可支持结论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旧直接准入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执行准入，不是间接 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 README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0/4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0/4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没有危险尝试，不能归因阻断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新间接攻击效果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4/24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作者知情、小样本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新正常完成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8/8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8/8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仅4种任务各重复2次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CD50A-8A37-4F93-899D-77E95A11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具体证据与限定范围见讲稿和原始记录；不为整个产品授予认证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41111-A801-494D-9250-ABF2DD61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11/15</a:t>
            </a:r>
          </a:p>
        </p:txBody>
      </p:sp>
    </p:spTree>
    <p:extLst>
      <p:ext uri="{BB962C8B-B14F-4D97-AF65-F5344CB8AC3E}">
        <p14:creationId xmlns:p14="http://schemas.microsoft.com/office/powerpoint/2010/main" val="15780003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64AB9-F32B-4994-80F7-D3EBC8A4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技术备答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AEF21-E613-4346-9D8D-4CFA6F92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备答：E0–E4 证据强度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313F5-88A5-4177-9E45-723956C00475}"/>
              </a:ext>
            </a:extLst>
          </p:cNvPr>
          <p:cNvGraphicFramePr/>
          <p:nvPr/>
        </p:nvGraphicFramePr>
        <p:xfrm>
          <a:off xmlns:a="http://schemas.openxmlformats.org/drawingml/2006/main" x="590550" y="1971675"/>
          <a:ext xmlns:a="http://schemas.openxmlformats.org/drawingml/2006/main" cx="110109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429000"/>
                <a:gridCol w="5486400"/>
              </a:tblGrid>
              <a:tr h="555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等级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证据要求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当前范围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设计/实现可读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Gateway、Policy、Planner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E1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实际观察到信号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历史限定诱饵 READ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可信决策关联请求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OSEP 请求、决策、状态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E3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实际目标观察及正对照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同宿主有限秘密/文件/接收端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另一操作者与独立环境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未完成，不能称独立认证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4C57B-0526-4F4E-ABAE-D3022224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具体证据与限定范围见讲稿和原始记录；不为整个产品授予认证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67776-E199-41D8-B1D6-5C55E665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12/15</a:t>
            </a:r>
          </a:p>
        </p:txBody>
      </p:sp>
    </p:spTree>
    <p:extLst>
      <p:ext uri="{BB962C8B-B14F-4D97-AF65-F5344CB8AC3E}">
        <p14:creationId xmlns:p14="http://schemas.microsoft.com/office/powerpoint/2010/main" val="14219640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F668B-F8B1-481D-984E-933AD0E4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技术备答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F9AB9-28F9-41EB-A48A-D77F4D95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备答：宿主覆盖矩阵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99065-6C06-4B7D-A17A-0E3E4F9AD122}"/>
              </a:ext>
            </a:extLst>
          </p:cNvPr>
          <p:cNvGraphicFramePr/>
          <p:nvPr/>
        </p:nvGraphicFramePr>
        <p:xfrm>
          <a:off xmlns:a="http://schemas.openxmlformats.org/drawingml/2006/main" x="590550" y="1971675"/>
          <a:ext xmlns:a="http://schemas.openxmlformats.org/drawingml/2006/main" cx="110109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429000"/>
                <a:gridCol w="5486400"/>
              </a:tblGrid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宿主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当前验收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保护范围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 + Qwen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VERIFIED（有限）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运行器登记的工具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自定义 MCP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握手/虚拟隔离基线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自有服务登记回调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 / Cline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PARTIAL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配置/fixtures，原生E2E未验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 / Cursor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PARTIAL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hook/配置，实际启用未验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6E707-8E40-4AB3-974F-67D3553F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具体证据与限定范围见讲稿和原始记录；不为整个产品授予认证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12068-B5A9-421E-80E3-DF708110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13/15</a:t>
            </a:r>
          </a:p>
        </p:txBody>
      </p:sp>
    </p:spTree>
    <p:extLst>
      <p:ext uri="{BB962C8B-B14F-4D97-AF65-F5344CB8AC3E}">
        <p14:creationId xmlns:p14="http://schemas.microsoft.com/office/powerpoint/2010/main" val="961431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72056-E0B0-4DE5-B0C2-E6256B0B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技术备答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780EC-4AFD-480D-877B-C8B59CD0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备答：延迟与资源解释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F66FB-0B1A-4075-961C-05004AB9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工具调用中位：A 0.391 ms，F 6.577 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BF8F4-2D53-493C-B6EC-0C9068C1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任务中位：A 1345.0 ms，F 1260.9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2677F-46DE-489A-A23A-B1911E54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 Node 尾部 RSS 范围：约 62.7–68.1 MiB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47C39-1179-414F-877E-7BE6FD0E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不同路径/缓存/顺序影响结果，不是纯 Gateway 开销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0DDEA-7DE2-4704-B80E-15937BEF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14/15</a:t>
            </a:r>
          </a:p>
        </p:txBody>
      </p:sp>
    </p:spTree>
    <p:extLst>
      <p:ext uri="{BB962C8B-B14F-4D97-AF65-F5344CB8AC3E}">
        <p14:creationId xmlns:p14="http://schemas.microsoft.com/office/powerpoint/2010/main" val="20450499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5985F-60C3-4AEF-9A3D-7D11BD16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技术备答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9920D-3670-43A7-95C2-6135D834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备答：现场演示降级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A580A-45E6-418B-9217-E86140DC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网络故障：本地 PPT/PDF、视频与证据 ZIP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B864B-BB83-4CB2-8FCC-8437269D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Ollama 故障：保存真实轨迹 + 明示操作员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1664C-4B98-4966-A346-D5007606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程序故障：切到已核对视频，不展示伪实时数据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6D733-5062-4C46-AA4F-1A84AE02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现场接口、签到与计时：以入围通知为准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E29CA-F7DD-4A69-9A55-DD96AC08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15/15</a:t>
            </a:r>
          </a:p>
        </p:txBody>
      </p:sp>
    </p:spTree>
    <p:extLst>
      <p:ext uri="{BB962C8B-B14F-4D97-AF65-F5344CB8AC3E}">
        <p14:creationId xmlns:p14="http://schemas.microsoft.com/office/powerpoint/2010/main" val="1852721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2026-10-11T16:59:30.3240000Z</dcterms:created>
  <dcterms:modified xsi:type="dcterms:W3CDTF">2026-10-11T16:59:30.3240000Z</dcterms:modified>
</coreProperties>
</file>